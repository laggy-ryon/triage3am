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088c0c2-6c51-5f92-0b94-176726f21191}">
          <p14:sldIdLst>
            <p14:sldId id="256"/>
          </p14:sldIdLst>
        </p14:section>
        <p14:section name="Problem" id="{cf2bfd6e-e7f6-ab79-d5a4-f9cb6f2fa109}">
          <p14:sldIdLst>
            <p14:sldId id="257"/>
            <p14:sldId id="258"/>
          </p14:sldIdLst>
        </p14:section>
        <p14:section name="Solution" id="{2b29a556-31ee-578d-dc79-f4fc2627e58b}">
          <p14:sldIdLst>
            <p14:sldId id="259"/>
            <p14:sldId id="260"/>
          </p14:sldIdLst>
        </p14:section>
        <p14:section name="Demo" id="{33fb0f89-1960-001a-a80f-e4fde25e554b}">
          <p14:sldIdLst>
            <p14:sldId id="261"/>
            <p14:sldId id="262"/>
          </p14:sldIdLst>
        </p14:section>
        <p14:section name="Impact" id="{c4d6fff0-f79b-a344-fda0-a424acb85944}">
          <p14:sldIdLst>
            <p14:sldId id="263"/>
          </p14:sldIdLst>
        </p14:section>
        <p14:section name="Close" id="{2397801f-c30c-ddf2-c36e-a40fab52d04b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judges and mentors. Today we are presenting Triage3AM, an observability tool built to solve one of the most painful experiences in software engineering: getting paged at 3 a.m. and drowning in 10,000 lines of chaotic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systems crash, they don't produce one clean error. They produce a tsunami of downstream casualties. Engineers spend the golden hour searching for Patient Zero in the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log viewers store everything, but index nothing intelligently at the moment of crisis. Hand-written regex cannot keep up with dynamic microservices.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Triage3AM is built on a single promise: turning 10,000 lines of noise into a handful of actionable incidents an engineer can act on inside 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pipeline is completely rule-free. It uses structural token tree partitioning inspired by the Drain algorithm to cluster log templates in linear time, running completely in pure Python with zero heavy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[Switch to screen share of http://localhost:8000 and click the 1-click preset button to show instant triage in under a second!]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UI is designed specifically for an exhausted engineer at 3 a.m. No clutter, high contrast, immediate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engineering team of 50, reducing outage resolution by 30 minutes per incident saves hundreds of thousands of dollars annually and keeps on-call rotations sustainable.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we take Triage3AM next: live streaming ingestion, automated self-healing behind a confidence threshold, and native cloud connectors.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judges! We're ready for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960120"/>
            <a:ext cx="7315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Triage3AM  ·  Protothon &lt;&gt; BST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Triage3AM  ·  Protothon &lt;&gt; BST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"/>
          <p:cNvSpPr txBox="1"/>
          <p:nvPr/>
        </p:nvSpPr>
        <p:spPr>
          <a:xfrm>
            <a:off x="9144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PROTOTHON &lt;&gt; BST OCTOBER 2026  ·  PROBLEM STATEMENT #8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914400" y="9601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Triage3AM: Finding the Signal in 10,000 Log Lines at 3 A.M.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91440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Autonomous Log Clustering &amp; Root-Cause Triage Engine</a:t>
            </a:r>
            <a:endParaRPr lang="en-US" sz="1800" dirty="0"/>
          </a:p>
        </p:txBody>
      </p:sp>
      <p:sp>
        <p:nvSpPr>
          <p:cNvPr id="5" name="Team label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TEAM</a:t>
            </a:r>
            <a:endParaRPr lang="en-US" sz="1200" dirty="0"/>
          </a:p>
        </p:txBody>
      </p:sp>
      <p:sp>
        <p:nvSpPr>
          <p:cNvPr id="6" name="Team card 1"/>
          <p:cNvSpPr/>
          <p:nvPr/>
        </p:nvSpPr>
        <p:spPr>
          <a:xfrm>
            <a:off x="54864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am member 1"/>
          <p:cNvSpPr txBox="1"/>
          <p:nvPr/>
        </p:nvSpPr>
        <p:spPr>
          <a:xfrm>
            <a:off x="54864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Harshit Neog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2392608085</a:t>
            </a:r>
            <a:endParaRPr lang="en-US" sz="1400" dirty="0"/>
          </a:p>
        </p:txBody>
      </p:sp>
      <p:sp>
        <p:nvSpPr>
          <p:cNvPr id="8" name="Team card 2"/>
          <p:cNvSpPr/>
          <p:nvPr/>
        </p:nvSpPr>
        <p:spPr>
          <a:xfrm>
            <a:off x="260604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9" name="Team member 2"/>
          <p:cNvSpPr txBox="1"/>
          <p:nvPr/>
        </p:nvSpPr>
        <p:spPr>
          <a:xfrm>
            <a:off x="260604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Vinay Khandia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2392608075</a:t>
            </a:r>
            <a:endParaRPr lang="en-US" sz="1400" dirty="0"/>
          </a:p>
        </p:txBody>
      </p:sp>
      <p:sp>
        <p:nvSpPr>
          <p:cNvPr id="10" name="Team card 3"/>
          <p:cNvSpPr/>
          <p:nvPr/>
        </p:nvSpPr>
        <p:spPr>
          <a:xfrm>
            <a:off x="466344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1" name="Team member 3"/>
          <p:cNvSpPr txBox="1"/>
          <p:nvPr/>
        </p:nvSpPr>
        <p:spPr>
          <a:xfrm>
            <a:off x="466344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Kaif Ahmed Khan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2392608101</a:t>
            </a:r>
            <a:endParaRPr lang="en-US" sz="1400" dirty="0"/>
          </a:p>
        </p:txBody>
      </p:sp>
      <p:sp>
        <p:nvSpPr>
          <p:cNvPr id="12" name="Team card 4"/>
          <p:cNvSpPr/>
          <p:nvPr/>
        </p:nvSpPr>
        <p:spPr>
          <a:xfrm>
            <a:off x="6720840" y="3520440"/>
            <a:ext cx="187452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am member 4"/>
          <p:cNvSpPr txBox="1"/>
          <p:nvPr/>
        </p:nvSpPr>
        <p:spPr>
          <a:xfrm>
            <a:off x="672084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Arman Azare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2392608096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3 A.M. Nightmare</a:t>
            </a:r>
            <a:endParaRPr lang="en-US" sz="3400" dirty="0"/>
          </a:p>
        </p:txBody>
      </p:sp>
      <p:sp>
        <p:nvSpPr>
          <p:cNvPr id="3" name="Scenario card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Scenario</a:t>
            </a:r>
            <a:endParaRPr lang="en-US" sz="1800" dirty="0"/>
          </a:p>
        </p:txBody>
      </p:sp>
      <p:sp>
        <p:nvSpPr>
          <p:cNvPr id="5" name="Badge 1"/>
          <p:cNvSpPr txBox="1"/>
          <p:nvPr/>
        </p:nvSpPr>
        <p:spPr>
          <a:xfrm>
            <a:off x="777240" y="2103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cenario 1"/>
          <p:cNvSpPr txBox="1"/>
          <p:nvPr/>
        </p:nvSpPr>
        <p:spPr>
          <a:xfrm>
            <a:off x="1280160" y="2011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PagerDuty rings at 3:14 AM. Checkout service is down.</a:t>
            </a:r>
            <a:endParaRPr lang="en-US" sz="1400" dirty="0"/>
          </a:p>
        </p:txBody>
      </p:sp>
      <p:sp>
        <p:nvSpPr>
          <p:cNvPr id="7" name="Badge 2"/>
          <p:cNvSpPr txBox="1"/>
          <p:nvPr/>
        </p:nvSpPr>
        <p:spPr>
          <a:xfrm>
            <a:off x="777240" y="28803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Scenario 2"/>
          <p:cNvSpPr txBox="1"/>
          <p:nvPr/>
        </p:nvSpPr>
        <p:spPr>
          <a:xfrm>
            <a:off x="12801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10,000 lines of red text across 6 microservices.</a:t>
            </a:r>
            <a:endParaRPr lang="en-US" sz="1400" dirty="0"/>
          </a:p>
        </p:txBody>
      </p:sp>
      <p:sp>
        <p:nvSpPr>
          <p:cNvPr id="9" name="Badge 3"/>
          <p:cNvSpPr txBox="1"/>
          <p:nvPr/>
        </p:nvSpPr>
        <p:spPr>
          <a:xfrm>
            <a:off x="777240" y="3657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Scenario 3"/>
          <p:cNvSpPr txBox="1"/>
          <p:nvPr/>
        </p:nvSpPr>
        <p:spPr>
          <a:xfrm>
            <a:off x="1280160" y="3566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Interleaved stack traces, duplicate 504 timeouts, and retry storms.</a:t>
            </a:r>
            <a:endParaRPr lang="en-US" sz="1400" dirty="0"/>
          </a:p>
        </p:txBody>
      </p:sp>
      <p:sp>
        <p:nvSpPr>
          <p:cNvPr id="11" name="Problem card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Core Problem</a:t>
            </a:r>
            <a:endParaRPr lang="en-US" sz="1800" dirty="0"/>
          </a:p>
        </p:txBody>
      </p:sp>
      <p:sp>
        <p:nvSpPr>
          <p:cNvPr id="13" name="Problem stat 1"/>
          <p:cNvSpPr txBox="1"/>
          <p:nvPr/>
        </p:nvSpPr>
        <p:spPr>
          <a:xfrm>
            <a:off x="4892040" y="1965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45–60 min</a:t>
            </a:r>
            <a:endParaRPr lang="en-US" sz="3600" dirty="0"/>
          </a:p>
        </p:txBody>
      </p:sp>
      <p:sp>
        <p:nvSpPr>
          <p:cNvPr id="14" name="Problem label 1"/>
          <p:cNvSpPr txBox="1"/>
          <p:nvPr/>
        </p:nvSpPr>
        <p:spPr>
          <a:xfrm>
            <a:off x="489204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find Patient Zero, the first actual trigger, by manual grep and scroll</a:t>
            </a:r>
            <a:endParaRPr lang="en-US" sz="1400" dirty="0"/>
          </a:p>
        </p:txBody>
      </p:sp>
      <p:sp>
        <p:nvSpPr>
          <p:cNvPr id="15" name="Problem stat 2"/>
          <p:cNvSpPr txBox="1"/>
          <p:nvPr/>
        </p:nvSpPr>
        <p:spPr>
          <a:xfrm>
            <a:off x="4892040" y="31089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$5,000+</a:t>
            </a:r>
            <a:endParaRPr lang="en-US" sz="3600" dirty="0"/>
          </a:p>
        </p:txBody>
      </p:sp>
      <p:sp>
        <p:nvSpPr>
          <p:cNvPr id="16" name="Problem label 2"/>
          <p:cNvSpPr txBox="1"/>
          <p:nvPr/>
        </p:nvSpPr>
        <p:spPr>
          <a:xfrm>
            <a:off x="489204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lost per minute of e-commerce downtime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 Existing Solutions Fail</a:t>
            </a:r>
            <a:endParaRPr lang="en-US" sz="3400" dirty="0"/>
          </a:p>
        </p:txBody>
      </p:sp>
      <p:sp>
        <p:nvSpPr>
          <p:cNvPr id="3" name="Failure card 1"/>
          <p:cNvSpPr/>
          <p:nvPr/>
        </p:nvSpPr>
        <p:spPr>
          <a:xfrm>
            <a:off x="5486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Brittle Regex Rules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Break as soon as a library updates or a timestamp format shifts.</a:t>
            </a:r>
            <a:endParaRPr lang="en-US" sz="1600" dirty="0"/>
          </a:p>
        </p:txBody>
      </p:sp>
      <p:sp>
        <p:nvSpPr>
          <p:cNvPr id="7" name="Failure card 2"/>
          <p:cNvSpPr/>
          <p:nvPr/>
        </p:nvSpPr>
        <p:spPr>
          <a:xfrm>
            <a:off x="32918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ELK / CloudWatch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880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Show you all the logs, which magnifies the noise rather than reducing it.</a:t>
            </a:r>
            <a:endParaRPr lang="en-US" sz="1600" dirty="0"/>
          </a:p>
        </p:txBody>
      </p:sp>
      <p:sp>
        <p:nvSpPr>
          <p:cNvPr id="11" name="Failure card 3"/>
          <p:cNvSpPr/>
          <p:nvPr/>
        </p:nvSpPr>
        <p:spPr>
          <a:xfrm>
            <a:off x="6035040" y="128016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Alert Fatigue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8803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Engineers mute alerts or guess the root cause under high stress.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Introducing Triage3AM</a:t>
            </a:r>
            <a:endParaRPr lang="en-US" sz="3400" dirty="0"/>
          </a:p>
        </p:txBody>
      </p:sp>
      <p:sp>
        <p:nvSpPr>
          <p:cNvPr id="3" name="Capability card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It Does</a:t>
            </a:r>
            <a:endParaRPr lang="en-US" sz="1800" dirty="0"/>
          </a:p>
        </p:txBody>
      </p:sp>
      <p:sp>
        <p:nvSpPr>
          <p:cNvPr id="5" name="Badge 1"/>
          <p:cNvSpPr txBox="1"/>
          <p:nvPr/>
        </p:nvSpPr>
        <p:spPr>
          <a:xfrm>
            <a:off x="777240" y="2011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Capability 1"/>
          <p:cNvSpPr txBox="1"/>
          <p:nvPr/>
        </p:nvSpPr>
        <p:spPr>
          <a:xfrm>
            <a:off x="128016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Ingests raw multi-service logs.</a:t>
            </a:r>
            <a:endParaRPr lang="en-US" sz="1400" dirty="0"/>
          </a:p>
        </p:txBody>
      </p:sp>
      <p:sp>
        <p:nvSpPr>
          <p:cNvPr id="7" name="Badge 2"/>
          <p:cNvSpPr txBox="1"/>
          <p:nvPr/>
        </p:nvSpPr>
        <p:spPr>
          <a:xfrm>
            <a:off x="777240" y="261518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Capability 2"/>
          <p:cNvSpPr txBox="1"/>
          <p:nvPr/>
        </p:nvSpPr>
        <p:spPr>
          <a:xfrm>
            <a:off x="1280160" y="25237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Clusters similar errors dynamically without hand-written rules.</a:t>
            </a:r>
            <a:endParaRPr lang="en-US" sz="1400" dirty="0"/>
          </a:p>
        </p:txBody>
      </p:sp>
      <p:sp>
        <p:nvSpPr>
          <p:cNvPr id="9" name="Badge 3"/>
          <p:cNvSpPr txBox="1"/>
          <p:nvPr/>
        </p:nvSpPr>
        <p:spPr>
          <a:xfrm>
            <a:off x="777240" y="3218688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0" name="Capability 3"/>
          <p:cNvSpPr txBox="1"/>
          <p:nvPr/>
        </p:nvSpPr>
        <p:spPr>
          <a:xfrm>
            <a:off x="1280160" y="3127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Correlates chronological cascade &amp; blast radius.</a:t>
            </a:r>
            <a:endParaRPr lang="en-US" sz="1400" dirty="0"/>
          </a:p>
        </p:txBody>
      </p:sp>
      <p:sp>
        <p:nvSpPr>
          <p:cNvPr id="11" name="Badge 4"/>
          <p:cNvSpPr txBox="1"/>
          <p:nvPr/>
        </p:nvSpPr>
        <p:spPr>
          <a:xfrm>
            <a:off x="777240" y="38221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Capability 4"/>
          <p:cNvSpPr txBox="1"/>
          <p:nvPr/>
        </p:nvSpPr>
        <p:spPr>
          <a:xfrm>
            <a:off x="1280160" y="3730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Pinpoints Patient Zero and outputs ready-to-run remediation runbooks.</a:t>
            </a:r>
            <a:endParaRPr lang="en-US" sz="1400" dirty="0"/>
          </a:p>
        </p:txBody>
      </p:sp>
      <p:sp>
        <p:nvSpPr>
          <p:cNvPr id="13" name="Benchmark card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Benchmark</a:t>
            </a:r>
            <a:endParaRPr lang="en-US" sz="1800" dirty="0"/>
          </a:p>
        </p:txBody>
      </p:sp>
      <p:sp>
        <p:nvSpPr>
          <p:cNvPr id="15" name="Benchmark 1"/>
          <p:cNvSpPr txBox="1"/>
          <p:nvPr/>
        </p:nvSpPr>
        <p:spPr>
          <a:xfrm>
            <a:off x="489204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10,000 → 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raw lines to actionable incident cards</a:t>
            </a:r>
            <a:endParaRPr lang="en-US" sz="1400" dirty="0"/>
          </a:p>
        </p:txBody>
      </p:sp>
      <p:sp>
        <p:nvSpPr>
          <p:cNvPr id="17" name="Benchmark 2"/>
          <p:cNvSpPr txBox="1"/>
          <p:nvPr/>
        </p:nvSpPr>
        <p:spPr>
          <a:xfrm>
            <a:off x="4892040" y="26609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0.18 s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triage the full log</a:t>
            </a:r>
            <a:endParaRPr lang="en-US" sz="1400" dirty="0"/>
          </a:p>
        </p:txBody>
      </p:sp>
      <p:sp>
        <p:nvSpPr>
          <p:cNvPr id="19" name="Benchmark 3"/>
          <p:cNvSpPr txBox="1"/>
          <p:nvPr/>
        </p:nvSpPr>
        <p:spPr>
          <a:xfrm>
            <a:off x="4892040" y="344728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99.92%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950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noise reduction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Solution Workflow &amp; Architecture</a:t>
            </a:r>
            <a:endParaRPr lang="en-US" sz="3400" dirty="0"/>
          </a:p>
        </p:txBody>
      </p:sp>
      <p:sp>
        <p:nvSpPr>
          <p:cNvPr id="3" name="Pipeline step 1"/>
          <p:cNvSpPr/>
          <p:nvPr/>
        </p:nvSpPr>
        <p:spPr>
          <a:xfrm>
            <a:off x="548640" y="128016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Dynamic Token Masker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Replaces UUIDs, IPs, memory addresses, and timestamps with generalized abstraction tokens.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2414016" y="2697480"/>
            <a:ext cx="182880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8" name="Pipeline step 2"/>
          <p:cNvSpPr/>
          <p:nvPr/>
        </p:nvSpPr>
        <p:spPr>
          <a:xfrm>
            <a:off x="2621310" y="128016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Badge 2"/>
          <p:cNvSpPr txBox="1"/>
          <p:nvPr/>
        </p:nvSpPr>
        <p:spPr>
          <a:xfrm>
            <a:off x="2849910" y="1463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9910" y="2057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Drain-Style Prefix Tree Clustering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49910" y="2971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Groups structural templates without regex rules.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4486686" y="2697480"/>
            <a:ext cx="182880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3" name="Pipeline step 3"/>
          <p:cNvSpPr/>
          <p:nvPr/>
        </p:nvSpPr>
        <p:spPr>
          <a:xfrm>
            <a:off x="4693981" y="128016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Badge 3"/>
          <p:cNvSpPr txBox="1"/>
          <p:nvPr/>
        </p:nvSpPr>
        <p:spPr>
          <a:xfrm>
            <a:off x="4922581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22581" y="2057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Temporal Cascade Engine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22581" y="2971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Traces chronological propagation from root cause to downstream symptoms.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6559357" y="2697480"/>
            <a:ext cx="182880" cy="219456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8" name="Pipeline step 4"/>
          <p:cNvSpPr/>
          <p:nvPr/>
        </p:nvSpPr>
        <p:spPr>
          <a:xfrm>
            <a:off x="6766651" y="128016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9" name="Badge 4"/>
          <p:cNvSpPr txBox="1"/>
          <p:nvPr/>
        </p:nvSpPr>
        <p:spPr>
          <a:xfrm>
            <a:off x="6995251" y="1463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95251" y="20574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Actionable Incident Synthesizer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95251" y="297180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Computes impact score and matches deterministic remediation commands.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Prototype Demonstration</a:t>
            </a:r>
            <a:endParaRPr lang="en-US" sz="3400" dirty="0"/>
          </a:p>
        </p:txBody>
      </p:sp>
      <p:sp>
        <p:nvSpPr>
          <p:cNvPr id="3" name="Scenario card 1"/>
          <p:cNvSpPr/>
          <p:nvPr/>
        </p:nvSpPr>
        <p:spPr>
          <a:xfrm>
            <a:off x="5486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SCENARIO 1  ·  10,000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Black Friday Checkout Cascade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Trigger: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postgres-cluster hits max_connections=100.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Cascade: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HikariPool timeout → Payment RPC retry storm → 504 Gateway Timeouts.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Result: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Isolates Line #2001 as Patient Zero in 0.18s and gives the exact kubectl fix.</a:t>
            </a:r>
            <a:endParaRPr lang="en-US" sz="1400" dirty="0"/>
          </a:p>
        </p:txBody>
      </p:sp>
      <p:sp>
        <p:nvSpPr>
          <p:cNvPr id="7" name="Scenario card 2"/>
          <p:cNvSpPr/>
          <p:nvPr/>
        </p:nvSpPr>
        <p:spPr>
          <a:xfrm>
            <a:off x="4663440" y="128016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92040" y="1444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SCENARIO 2  ·  10,000 LINES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Kubernetes OOM &amp; CrashLoopBackOff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4688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Trigger: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Auth service memory leak and pod eviction.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Result: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99.92% noise reduction.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Fix: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Ready-to-run rollback command.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War Room Dashboard Features</a:t>
            </a:r>
            <a:endParaRPr lang="en-US" sz="3400" dirty="0"/>
          </a:p>
        </p:txBody>
      </p:sp>
      <p:sp>
        <p:nvSpPr>
          <p:cNvPr id="3" name="Feature row 1"/>
          <p:cNvSpPr/>
          <p:nvPr/>
        </p:nvSpPr>
        <p:spPr>
          <a:xfrm>
            <a:off x="548640" y="123444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731520" y="1325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Feature 1"/>
          <p:cNvSpPr txBox="1"/>
          <p:nvPr/>
        </p:nvSpPr>
        <p:spPr>
          <a:xfrm>
            <a:off x="1280160" y="1234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Live Telemetry Ribbon</a:t>
            </a:r>
            <a:endParaRPr lang="en-US" sz="1400" dirty="0"/>
          </a:p>
        </p:txBody>
      </p:sp>
      <p:sp>
        <p:nvSpPr>
          <p:cNvPr id="6" name="Feature detail 1"/>
          <p:cNvSpPr txBox="1"/>
          <p:nvPr/>
        </p:nvSpPr>
        <p:spPr>
          <a:xfrm>
            <a:off x="4434840" y="12344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Raw lines, noise reduction %, triage latency and severity status.</a:t>
            </a:r>
            <a:endParaRPr lang="en-US" sz="1400" dirty="0"/>
          </a:p>
        </p:txBody>
      </p:sp>
      <p:sp>
        <p:nvSpPr>
          <p:cNvPr id="7" name="Feature row 2"/>
          <p:cNvSpPr/>
          <p:nvPr/>
        </p:nvSpPr>
        <p:spPr>
          <a:xfrm>
            <a:off x="548640" y="187452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 txBox="1"/>
          <p:nvPr/>
        </p:nvSpPr>
        <p:spPr>
          <a:xfrm>
            <a:off x="731520" y="19659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Feature 2"/>
          <p:cNvSpPr txBox="1"/>
          <p:nvPr/>
        </p:nvSpPr>
        <p:spPr>
          <a:xfrm>
            <a:off x="128016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Executive War Room Banner</a:t>
            </a:r>
            <a:endParaRPr lang="en-US" sz="1400" dirty="0"/>
          </a:p>
        </p:txBody>
      </p:sp>
      <p:sp>
        <p:nvSpPr>
          <p:cNvPr id="10" name="Feature detail 2"/>
          <p:cNvSpPr txBox="1"/>
          <p:nvPr/>
        </p:nvSpPr>
        <p:spPr>
          <a:xfrm>
            <a:off x="443484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Instant root cause diagnosis plus a 1-click copyable terminal fix.</a:t>
            </a:r>
            <a:endParaRPr lang="en-US" sz="1400" dirty="0"/>
          </a:p>
        </p:txBody>
      </p:sp>
      <p:sp>
        <p:nvSpPr>
          <p:cNvPr id="11" name="Feature row 3"/>
          <p:cNvSpPr/>
          <p:nvPr/>
        </p:nvSpPr>
        <p:spPr>
          <a:xfrm>
            <a:off x="548640" y="251460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 txBox="1"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Feature 3"/>
          <p:cNvSpPr txBox="1"/>
          <p:nvPr/>
        </p:nvSpPr>
        <p:spPr>
          <a:xfrm>
            <a:off x="1280160" y="2514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Visual Waterfall Timeline</a:t>
            </a:r>
            <a:endParaRPr lang="en-US" sz="1400" dirty="0"/>
          </a:p>
        </p:txBody>
      </p:sp>
      <p:sp>
        <p:nvSpPr>
          <p:cNvPr id="14" name="Feature detail 3"/>
          <p:cNvSpPr txBox="1"/>
          <p:nvPr/>
        </p:nvSpPr>
        <p:spPr>
          <a:xfrm>
            <a:off x="4434840" y="251460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Shows exactly how the failure cascaded, step by step.</a:t>
            </a:r>
            <a:endParaRPr lang="en-US" sz="1400" dirty="0"/>
          </a:p>
        </p:txBody>
      </p:sp>
      <p:sp>
        <p:nvSpPr>
          <p:cNvPr id="15" name="Feature row 4"/>
          <p:cNvSpPr/>
          <p:nvPr/>
        </p:nvSpPr>
        <p:spPr>
          <a:xfrm>
            <a:off x="548640" y="315468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 txBox="1"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Feature 4"/>
          <p:cNvSpPr txBox="1"/>
          <p:nvPr/>
        </p:nvSpPr>
        <p:spPr>
          <a:xfrm>
            <a:off x="128016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Incident Cards</a:t>
            </a:r>
            <a:endParaRPr lang="en-US" sz="1400" dirty="0"/>
          </a:p>
        </p:txBody>
      </p:sp>
      <p:sp>
        <p:nvSpPr>
          <p:cNvPr id="18" name="Feature detail 4"/>
          <p:cNvSpPr txBox="1"/>
          <p:nvPr/>
        </p:nvSpPr>
        <p:spPr>
          <a:xfrm>
            <a:off x="4434840" y="3154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Ranked by impact (P0, P1, P2) with service blast radius.</a:t>
            </a:r>
            <a:endParaRPr lang="en-US" sz="1400" dirty="0"/>
          </a:p>
        </p:txBody>
      </p:sp>
      <p:sp>
        <p:nvSpPr>
          <p:cNvPr id="19" name="Feature row 5"/>
          <p:cNvSpPr/>
          <p:nvPr/>
        </p:nvSpPr>
        <p:spPr>
          <a:xfrm>
            <a:off x="548640" y="3794760"/>
            <a:ext cx="8046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0" name="Badge 5"/>
          <p:cNvSpPr txBox="1"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1" name="Feature 5"/>
          <p:cNvSpPr txBox="1"/>
          <p:nvPr/>
        </p:nvSpPr>
        <p:spPr>
          <a:xfrm>
            <a:off x="1280160" y="3794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1-Click Slack / PagerDuty Broadcast</a:t>
            </a:r>
            <a:endParaRPr lang="en-US" sz="1400" dirty="0"/>
          </a:p>
        </p:txBody>
      </p:sp>
      <p:sp>
        <p:nvSpPr>
          <p:cNvPr id="22" name="Feature detail 5"/>
          <p:cNvSpPr txBox="1"/>
          <p:nvPr/>
        </p:nvSpPr>
        <p:spPr>
          <a:xfrm>
            <a:off x="4434840" y="37947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Formatted markdown for team communication.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&amp; Value Proposition</a:t>
            </a:r>
            <a:endParaRPr lang="en-US" sz="3400" dirty="0"/>
          </a:p>
        </p:txBody>
      </p:sp>
      <p:sp>
        <p:nvSpPr>
          <p:cNvPr id="3" name="MTTD card"/>
          <p:cNvSpPr/>
          <p:nvPr/>
        </p:nvSpPr>
        <p:spPr>
          <a:xfrm>
            <a:off x="548640" y="1234440"/>
            <a:ext cx="8046720" cy="1554480"/>
          </a:xfrm>
          <a:prstGeom prst="roundRect">
            <a:avLst>
              <a:gd name="adj" fmla="val 4706"/>
            </a:avLst>
          </a:prstGeom>
          <a:solidFill>
            <a:schemeClr val="tx1"/>
          </a:solidFill>
          <a:ln/>
        </p:spPr>
      </p:sp>
      <p:sp>
        <p:nvSpPr>
          <p:cNvPr id="4" name="MTTD stat 1"/>
          <p:cNvSpPr txBox="1"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 min</a:t>
            </a:r>
            <a:endParaRPr lang="en-US" sz="4400" dirty="0"/>
          </a:p>
        </p:txBody>
      </p:sp>
      <p:sp>
        <p:nvSpPr>
          <p:cNvPr id="5" name="MTTD label 1"/>
          <p:cNvSpPr txBox="1"/>
          <p:nvPr/>
        </p:nvSpPr>
        <p:spPr>
          <a:xfrm>
            <a:off x="73152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Manual triage</a:t>
            </a:r>
            <a:endParaRPr lang="en-US" sz="1400" dirty="0"/>
          </a:p>
        </p:txBody>
      </p:sp>
      <p:sp>
        <p:nvSpPr>
          <p:cNvPr id="6" name="MTTD stat 2"/>
          <p:cNvSpPr txBox="1"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&lt;1 min</a:t>
            </a:r>
            <a:endParaRPr lang="en-US" sz="4400" dirty="0"/>
          </a:p>
        </p:txBody>
      </p:sp>
      <p:sp>
        <p:nvSpPr>
          <p:cNvPr id="7" name="MTTD label 2"/>
          <p:cNvSpPr txBox="1"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Triage3AM</a:t>
            </a:r>
            <a:endParaRPr lang="en-US" sz="1400" dirty="0"/>
          </a:p>
        </p:txBody>
      </p:sp>
      <p:sp>
        <p:nvSpPr>
          <p:cNvPr id="8" name="MTTD stat 3"/>
          <p:cNvSpPr txBox="1"/>
          <p:nvPr/>
        </p:nvSpPr>
        <p:spPr>
          <a:xfrm>
            <a:off x="585216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98%</a:t>
            </a:r>
            <a:endParaRPr lang="en-US" sz="4400" dirty="0"/>
          </a:p>
        </p:txBody>
      </p:sp>
      <p:sp>
        <p:nvSpPr>
          <p:cNvPr id="9" name="MTTD label 3"/>
          <p:cNvSpPr txBox="1"/>
          <p:nvPr/>
        </p:nvSpPr>
        <p:spPr>
          <a:xfrm>
            <a:off x="585216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MTTD reduction</a:t>
            </a:r>
            <a:endParaRPr lang="en-US" sz="1400" dirty="0"/>
          </a:p>
        </p:txBody>
      </p:sp>
      <p:sp>
        <p:nvSpPr>
          <p:cNvPr id="10" name="Divider 1"/>
          <p:cNvSpPr/>
          <p:nvPr/>
        </p:nvSpPr>
        <p:spPr>
          <a:xfrm>
            <a:off x="3291840" y="1463040"/>
            <a:ext cx="0" cy="109728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Divider 2"/>
          <p:cNvSpPr/>
          <p:nvPr/>
        </p:nvSpPr>
        <p:spPr>
          <a:xfrm>
            <a:off x="5852160" y="1463040"/>
            <a:ext cx="0" cy="109728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2" name="Value card 1"/>
          <p:cNvSpPr/>
          <p:nvPr/>
        </p:nvSpPr>
        <p:spPr>
          <a:xfrm>
            <a:off x="5486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Cost Savings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Eliminates SLA breaches and downtime revenue loss.</a:t>
            </a:r>
            <a:endParaRPr lang="en-US" sz="1400" dirty="0"/>
          </a:p>
        </p:txBody>
      </p:sp>
      <p:sp>
        <p:nvSpPr>
          <p:cNvPr id="15" name="Value card 2"/>
          <p:cNvSpPr/>
          <p:nvPr/>
        </p:nvSpPr>
        <p:spPr>
          <a:xfrm>
            <a:off x="32918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204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Developer Well-being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Cuts on-call stress, panic, and burnout.</a:t>
            </a:r>
            <a:endParaRPr lang="en-US" sz="1400" dirty="0"/>
          </a:p>
        </p:txBody>
      </p:sp>
      <p:sp>
        <p:nvSpPr>
          <p:cNvPr id="18" name="Value card 3"/>
          <p:cNvSpPr/>
          <p:nvPr/>
        </p:nvSpPr>
        <p:spPr>
          <a:xfrm>
            <a:off x="6035040" y="301752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Lightweight &amp; Portable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Zero external libraries needed; runs locally or in CI/CD / Kubernetes sidecars.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Future Roadmap</a:t>
            </a:r>
            <a:endParaRPr lang="en-US" sz="3400" dirty="0"/>
          </a:p>
        </p:txBody>
      </p:sp>
      <p:sp>
        <p:nvSpPr>
          <p:cNvPr id="3" name="Roadmap line"/>
          <p:cNvSpPr/>
          <p:nvPr/>
        </p:nvSpPr>
        <p:spPr>
          <a:xfrm>
            <a:off x="1828800" y="1508760"/>
            <a:ext cx="54864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Badge 1"/>
          <p:cNvSpPr txBox="1"/>
          <p:nvPr/>
        </p:nvSpPr>
        <p:spPr>
          <a:xfrm>
            <a:off x="1600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Roadmap card 1"/>
          <p:cNvSpPr/>
          <p:nvPr/>
        </p:nvSpPr>
        <p:spPr>
          <a:xfrm>
            <a:off x="548640" y="19659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Real-time WebSocket Streaming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Direct eBPF / FluentBit tailing for zero-latency live triage.</a:t>
            </a:r>
            <a:endParaRPr lang="en-US" sz="1400" dirty="0"/>
          </a:p>
        </p:txBody>
      </p:sp>
      <p:sp>
        <p:nvSpPr>
          <p:cNvPr id="8" name="Badge 2"/>
          <p:cNvSpPr txBox="1"/>
          <p:nvPr/>
        </p:nvSpPr>
        <p:spPr>
          <a:xfrm>
            <a:off x="4343400" y="12801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Roadmap card 2"/>
          <p:cNvSpPr/>
          <p:nvPr/>
        </p:nvSpPr>
        <p:spPr>
          <a:xfrm>
            <a:off x="3291840" y="19659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Automated Self-Healing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Webhook triggers to auto-execute rollback scripts upon confidence threshold.</a:t>
            </a:r>
            <a:endParaRPr lang="en-US" sz="1400" dirty="0"/>
          </a:p>
        </p:txBody>
      </p:sp>
      <p:sp>
        <p:nvSpPr>
          <p:cNvPr id="12" name="Badge 3"/>
          <p:cNvSpPr txBox="1"/>
          <p:nvPr/>
        </p:nvSpPr>
        <p:spPr>
          <a:xfrm>
            <a:off x="70866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Roadmap card 3"/>
          <p:cNvSpPr/>
          <p:nvPr/>
        </p:nvSpPr>
        <p:spPr>
          <a:xfrm>
            <a:off x="6035040" y="19659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2194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Multi-Cloud Integration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Native AWS CloudWatch, GCP Cloud Logging, and Datadog connectors.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Summary card 1"/>
          <p:cNvSpPr/>
          <p:nvPr/>
        </p:nvSpPr>
        <p:spPr>
          <a:xfrm>
            <a:off x="54864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/>
        </p:spPr>
      </p:sp>
      <p:sp>
        <p:nvSpPr>
          <p:cNvPr id="4" name="Badge 1"/>
          <p:cNvSpPr txBox="1"/>
          <p:nvPr/>
        </p:nvSpPr>
        <p:spPr>
          <a:xfrm>
            <a:off x="777240" y="1463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Summary 1"/>
          <p:cNvSpPr txBox="1"/>
          <p:nvPr/>
        </p:nvSpPr>
        <p:spPr>
          <a:xfrm>
            <a:off x="77724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Solved Problem Statement #8 with a working, production-quality prototype.</a:t>
            </a:r>
            <a:endParaRPr lang="en-US" sz="1400" dirty="0"/>
          </a:p>
        </p:txBody>
      </p:sp>
      <p:sp>
        <p:nvSpPr>
          <p:cNvPr id="6" name="Summary card 2"/>
          <p:cNvSpPr/>
          <p:nvPr/>
        </p:nvSpPr>
        <p:spPr>
          <a:xfrm>
            <a:off x="329184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/>
        </p:spPr>
      </p:sp>
      <p:sp>
        <p:nvSpPr>
          <p:cNvPr id="7" name="Badge 2"/>
          <p:cNvSpPr txBox="1"/>
          <p:nvPr/>
        </p:nvSpPr>
        <p:spPr>
          <a:xfrm>
            <a:off x="3520440" y="1463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Summary 2"/>
          <p:cNvSpPr txBox="1"/>
          <p:nvPr/>
        </p:nvSpPr>
        <p:spPr>
          <a:xfrm>
            <a:off x="352044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10,000 lines → actionable incidents in 0.18s.</a:t>
            </a:r>
            <a:endParaRPr lang="en-US" sz="1400" dirty="0"/>
          </a:p>
        </p:txBody>
      </p:sp>
      <p:sp>
        <p:nvSpPr>
          <p:cNvPr id="9" name="Summary card 3"/>
          <p:cNvSpPr/>
          <p:nvPr/>
        </p:nvSpPr>
        <p:spPr>
          <a:xfrm>
            <a:off x="603504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tx2"/>
          </a:solidFill>
          <a:ln/>
        </p:spPr>
      </p:sp>
      <p:sp>
        <p:nvSpPr>
          <p:cNvPr id="10" name="Badge 3"/>
          <p:cNvSpPr txBox="1"/>
          <p:nvPr/>
        </p:nvSpPr>
        <p:spPr>
          <a:xfrm>
            <a:off x="6263640" y="1463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Summary 3"/>
          <p:cNvSpPr txBox="1"/>
          <p:nvPr/>
        </p:nvSpPr>
        <p:spPr>
          <a:xfrm>
            <a:off x="626364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Rule-free clustering, Patient Zero isolation, and instant remediation.</a:t>
            </a:r>
            <a:endParaRPr lang="en-US" sz="1400" dirty="0"/>
          </a:p>
        </p:txBody>
      </p:sp>
      <p:sp>
        <p:nvSpPr>
          <p:cNvPr id="12" name="Thank you"/>
          <p:cNvSpPr txBox="1"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You!</a:t>
            </a:r>
            <a:endParaRPr lang="en-US" sz="3000" dirty="0"/>
          </a:p>
        </p:txBody>
      </p:sp>
      <p:sp>
        <p:nvSpPr>
          <p:cNvPr id="13" name="Repository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github.com/Laggy-Ryon/triage3am</a:t>
            </a:r>
            <a:endParaRPr lang="en-US" sz="2000" dirty="0"/>
          </a:p>
        </p:txBody>
      </p:sp>
      <p:sp>
        <p:nvSpPr>
          <p:cNvPr id="14" name="Team names"/>
          <p:cNvSpPr txBox="1"/>
          <p:nvPr/>
        </p:nvSpPr>
        <p:spPr>
          <a:xfrm>
            <a:off x="54864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Harshit Neog  ·  Vinay Khandia  ·  Kaif Ahmed Khan  ·  Arman Azare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age3AM Final">
  <a:themeElements>
    <a:clrScheme name="Triage3AM Final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D9488"/>
      </a:accent1>
      <a:accent2>
        <a:srgbClr val="F59E0B"/>
      </a:accent2>
      <a:accent3>
        <a:srgbClr val="2DD4BF"/>
      </a:accent3>
      <a:accent4>
        <a:srgbClr val="0F766E"/>
      </a:accent4>
      <a:accent5>
        <a:srgbClr val="475569"/>
      </a:accent5>
      <a:accent6>
        <a:srgbClr val="94A3B8"/>
      </a:accent6>
      <a:hlink>
        <a:srgbClr val="0D9488"/>
      </a:hlink>
      <a:folHlink>
        <a:srgbClr val="475569"/>
      </a:folHlink>
    </a:clrScheme>
    <a:fontScheme name="Triage3AM F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Triage3AM</dc:title>
  <dc:subject>PptxGenJS Presentation</dc:subject>
  <dc:creator>Triage3AM team</dc:creator>
  <cp:lastModifiedBy>Triage3AM team</cp:lastModifiedBy>
  <cp:revision>1</cp:revision>
  <dcterms:created xsi:type="dcterms:W3CDTF">2026-10-09T22:41:54Z</dcterms:created>
  <dcterms:modified xsi:type="dcterms:W3CDTF">2026-10-09T22:41:54Z</dcterms:modified>
</cp:coreProperties>
</file>